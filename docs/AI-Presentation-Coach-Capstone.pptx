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AI PRESENTATION COACH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55448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5F0EB"/>
                </a:solidFill>
                <a:latin typeface="Calibri"/>
              </a:defRPr>
            </a:pPr>
            <a:r>
              <a:t>Speak with</a:t>
            </a:r>
            <a:br/>
            <a:r>
              <a:t>Confidence.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4B8A9"/>
                </a:solidFill>
                <a:latin typeface="Calibri"/>
              </a:defRPr>
            </a:pPr>
            <a:r>
              <a:t>Your personal AI-powered speaking coach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7168"/>
                </a:solidFill>
                <a:latin typeface="Calibri"/>
              </a:defRPr>
            </a:pPr>
            <a:r>
              <a:t>A.J. Schoolcraft  |  Joaquin Crespo  |  Emma Sprankle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7168"/>
                </a:solidFill>
                <a:latin typeface="Calibri"/>
              </a:defRPr>
            </a:pPr>
            <a:r>
              <a:t>LMU ISBA Capstone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486400"/>
            <a:ext cx="2743200" cy="347472"/>
          </a:xfrm>
          <a:prstGeom prst="roundRect">
            <a:avLst/>
          </a:prstGeom>
          <a:solidFill>
            <a:srgbClr val="C4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100" b="1">
                <a:solidFill>
                  <a:srgbClr val="F5F0EB"/>
                </a:solidFill>
                <a:latin typeface="Calibri"/>
              </a:defRPr>
            </a:pPr>
            <a:r>
              <a:t>Software Development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5486400"/>
            <a:ext cx="2862072" cy="347472"/>
          </a:xfrm>
          <a:prstGeom prst="roundRect">
            <a:avLst/>
          </a:prstGeom>
          <a:solidFill>
            <a:srgbClr val="C4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100" b="1">
                <a:solidFill>
                  <a:srgbClr val="F5F0EB"/>
                </a:solidFill>
                <a:latin typeface="Calibri"/>
              </a:defRPr>
            </a:pPr>
            <a:r>
              <a:t>AI / Machine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51192" y="5486400"/>
            <a:ext cx="1792224" cy="347472"/>
          </a:xfrm>
          <a:prstGeom prst="roundRect">
            <a:avLst/>
          </a:prstGeom>
          <a:solidFill>
            <a:srgbClr val="C4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100" b="1">
                <a:solidFill>
                  <a:srgbClr val="F5F0EB"/>
                </a:solidFill>
                <a:latin typeface="Calibri"/>
              </a:defRPr>
            </a:pPr>
            <a:r>
              <a:t>UI/UX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0576" y="5486400"/>
            <a:ext cx="3218688" cy="347472"/>
          </a:xfrm>
          <a:prstGeom prst="roundRect">
            <a:avLst/>
          </a:prstGeom>
          <a:solidFill>
            <a:srgbClr val="C4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100" b="1">
                <a:solidFill>
                  <a:srgbClr val="F5F0EB"/>
                </a:solidFill>
                <a:latin typeface="Calibri"/>
              </a:defRPr>
            </a:pPr>
            <a:r>
              <a:t>Cloud Computing &amp; DevOps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36424" y="5486400"/>
            <a:ext cx="2624328" cy="347472"/>
          </a:xfrm>
          <a:prstGeom prst="roundRect">
            <a:avLst/>
          </a:prstGeom>
          <a:solidFill>
            <a:srgbClr val="C4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100" b="1">
                <a:solidFill>
                  <a:srgbClr val="F5F0EB"/>
                </a:solidFill>
                <a:latin typeface="Calibri"/>
              </a:defRPr>
            </a:pPr>
            <a:r>
              <a:t>Database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THE HOOK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28016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0EB"/>
                </a:solidFill>
                <a:latin typeface="Calibri"/>
              </a:defRPr>
            </a:pPr>
            <a:r>
              <a:t>"75% of people rank public speaking</a:t>
            </a:r>
            <a:br/>
            <a:r>
              <a:t>as their number one fear</a:t>
            </a:r>
            <a:br/>
            <a:r>
              <a:t>— above death."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4B8A9"/>
                </a:solidFill>
                <a:latin typeface="Calibri"/>
              </a:defRPr>
            </a:pPr>
            <a:r>
              <a:t>For entrepreneurs and small business owners, being on camera isn't optional anymore. Your next customer is scrolling Instagram, TikTok, or YouTube right now.</a:t>
            </a:r>
            <a:br/>
            <a:br/>
            <a:r>
              <a:t>If you can't show up and speak clearly, you're invisible.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74"/>
                </a:solidFill>
                <a:latin typeface="Calibri"/>
              </a:defRPr>
            </a:pPr>
            <a:r>
              <a:t>What if the hardest part — figuring out what to say and getting comfortable on camera — had a coach built right into your phone?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ELEVATOR PITCH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28016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F0EB"/>
                </a:solidFill>
                <a:latin typeface="Calibri"/>
              </a:defRPr>
            </a:pPr>
            <a:r>
              <a:t>We built an AI-powered web app that helps entrepreneurs and small business owners write professional pitch scripts and practice delivering them on camera — all from their phone.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4B8A9"/>
                </a:solidFill>
                <a:latin typeface="Calibri"/>
              </a:defRPr>
            </a:pPr>
            <a:r>
              <a:t>👤  Who:  Entrepreneurs, small business owners, job seekers</a:t>
            </a:r>
          </a:p>
          <a:p>
            <a:pPr>
              <a:spcAft>
                <a:spcPts val="800"/>
              </a:spcAft>
              <a:defRPr sz="2000">
                <a:solidFill>
                  <a:srgbClr val="C4B8A9"/>
                </a:solidFill>
                <a:latin typeface="Calibri"/>
              </a:defRPr>
            </a:pPr>
            <a:r>
              <a:t>🚨  Problem:  They know their business but struggle to communicate it on video</a:t>
            </a:r>
          </a:p>
          <a:p>
            <a:pPr>
              <a:spcAft>
                <a:spcPts val="800"/>
              </a:spcAft>
              <a:defRPr sz="2000">
                <a:solidFill>
                  <a:srgbClr val="C4B8A9"/>
                </a:solidFill>
                <a:latin typeface="Calibri"/>
              </a:defRPr>
            </a:pPr>
            <a:r>
              <a:t>💡  Solution:  AI generates their script from guided questions, then they record, review, and reshoot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28016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0EB"/>
                </a:solidFill>
                <a:latin typeface="Calibri"/>
              </a:defRPr>
            </a:pPr>
            <a:r>
              <a:t>The people we're helping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8686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4B8A9"/>
                </a:solidFill>
                <a:latin typeface="Calibri"/>
              </a:defRPr>
            </a:pPr>
            <a:r>
              <a:t>Picture a small business owner — maybe they run a bakery, a landscaping company, or a tutoring service. They're great at what they do.</a:t>
            </a:r>
            <a:br/>
            <a:br/>
            <a:r>
              <a:t>But their competitor down the street just posted a polished 30-second pitch on Instagram and got 200 new followers overnight.</a:t>
            </a:r>
            <a:br/>
            <a:br/>
            <a:r>
              <a:t>Our user knows they need to do the same thing. But they sit down, open the camera, and freeze.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0EB"/>
                </a:solidFill>
                <a:latin typeface="Calibri"/>
              </a:defRPr>
            </a:pPr>
            <a:r>
              <a:t>Three walls between them and a good video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94560"/>
            <a:ext cx="9144000" cy="1097280"/>
          </a:xfrm>
          <a:prstGeom prst="roundRect">
            <a:avLst/>
          </a:prstGeom>
          <a:solidFill>
            <a:srgbClr val="161621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2860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74"/>
                </a:solidFill>
                <a:latin typeface="Calibri"/>
              </a:defRPr>
            </a:pPr>
            <a:r>
              <a:t>"What do I even say?"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974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4B8A9"/>
                </a:solidFill>
                <a:latin typeface="Calibri"/>
              </a:defRPr>
            </a:pPr>
            <a:r>
              <a:t>They know their business inside and out, but turning that into a clear, structured pitch feels impossible.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474720"/>
            <a:ext cx="9144000" cy="1097280"/>
          </a:xfrm>
          <a:prstGeom prst="roundRect">
            <a:avLst/>
          </a:prstGeom>
          <a:solidFill>
            <a:srgbClr val="161621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5661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74"/>
                </a:solidFill>
                <a:latin typeface="Calibri"/>
              </a:defRPr>
            </a:pPr>
            <a:r>
              <a:t>"I sound terrible on camera"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97763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4B8A9"/>
                </a:solidFill>
                <a:latin typeface="Calibri"/>
              </a:defRPr>
            </a:pPr>
            <a:r>
              <a:t>They record one take, hate it, and give up. No one told them that even professionals do 10+ takes.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754879"/>
            <a:ext cx="9144000" cy="1097280"/>
          </a:xfrm>
          <a:prstGeom prst="roundRect">
            <a:avLst/>
          </a:prstGeom>
          <a:solidFill>
            <a:srgbClr val="161621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84631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74"/>
                </a:solidFill>
                <a:latin typeface="Calibri"/>
              </a:defRPr>
            </a:pPr>
            <a:r>
              <a:t>"I can't afford to hire someone"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25779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4B8A9"/>
                </a:solidFill>
                <a:latin typeface="Calibri"/>
              </a:defRPr>
            </a:pPr>
            <a:r>
              <a:t>A professional video costs $500–$2,000+. These are small businesses — that budget doesn't exist.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A7168"/>
                </a:solidFill>
                <a:latin typeface="Calibri"/>
              </a:defRPr>
            </a:pPr>
            <a:r>
              <a:t>The workaround? Avoidance. They just don't post.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THE STAKES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28016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0EB"/>
                </a:solidFill>
                <a:latin typeface="Calibri"/>
              </a:defRPr>
            </a:pPr>
            <a:r>
              <a:t>What this costs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4B8A9"/>
                </a:solidFill>
                <a:latin typeface="Calibri"/>
              </a:defRPr>
            </a:pPr>
            <a:r>
              <a:t>✖  Missed visibility on platforms where their customers already are</a:t>
            </a:r>
          </a:p>
          <a:p>
            <a:pPr>
              <a:spcAft>
                <a:spcPts val="800"/>
              </a:spcAft>
              <a:defRPr sz="2000">
                <a:solidFill>
                  <a:srgbClr val="C4B8A9"/>
                </a:solidFill>
                <a:latin typeface="Calibri"/>
              </a:defRPr>
            </a:pPr>
            <a:r>
              <a:t>✖  Lost revenue — customers chose the competitor who showed up on video</a:t>
            </a:r>
          </a:p>
          <a:p>
            <a:pPr>
              <a:spcAft>
                <a:spcPts val="800"/>
              </a:spcAft>
              <a:defRPr sz="2000">
                <a:solidFill>
                  <a:srgbClr val="C4B8A9"/>
                </a:solidFill>
                <a:latin typeface="Calibri"/>
              </a:defRPr>
            </a:pPr>
            <a:r>
              <a:t>✖  Hours wasted writing scripts that don't sound like them</a:t>
            </a:r>
          </a:p>
          <a:p>
            <a:pPr>
              <a:spcAft>
                <a:spcPts val="800"/>
              </a:spcAft>
              <a:defRPr sz="2000">
                <a:solidFill>
                  <a:srgbClr val="C4B8A9"/>
                </a:solidFill>
                <a:latin typeface="Calibri"/>
              </a:defRPr>
            </a:pPr>
            <a:r>
              <a:t>✖  Confidence erosion — every failed attempt makes the next one harder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574"/>
                </a:solidFill>
                <a:latin typeface="Calibri"/>
              </a:defRPr>
            </a:pPr>
            <a:r>
              <a:t>The gap isn't talent. It's tooling.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0EB"/>
                </a:solidFill>
                <a:latin typeface="Calibri"/>
              </a:defRPr>
            </a:pPr>
            <a:r>
              <a:t>AI Presentation Coach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4B8A9"/>
                </a:solidFill>
                <a:latin typeface="Calibri"/>
              </a:defRPr>
            </a:pPr>
            <a:r>
              <a:t>A three-step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3017520" cy="2926080"/>
          </a:xfrm>
          <a:prstGeom prst="roundRect">
            <a:avLst/>
          </a:prstGeom>
          <a:solidFill>
            <a:srgbClr val="161621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68880" y="3017520"/>
            <a:ext cx="640080" cy="64008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2400" b="1">
                <a:solidFill>
                  <a:srgbClr val="0F0F1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840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F0EB"/>
                </a:solidFill>
                <a:latin typeface="Calibri"/>
              </a:defRPr>
            </a:pPr>
            <a:r>
              <a:t>Answer Guided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976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4B8A9"/>
                </a:solidFill>
                <a:latin typeface="Calibri"/>
              </a:defRPr>
            </a:pPr>
            <a:r>
              <a:t>11 thoughtful questions about your</a:t>
            </a:r>
            <a:br/>
            <a:r>
              <a:t>business, audience, and goals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743200"/>
            <a:ext cx="3017520" cy="2926080"/>
          </a:xfrm>
          <a:prstGeom prst="roundRect">
            <a:avLst/>
          </a:prstGeom>
          <a:solidFill>
            <a:srgbClr val="161621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0" y="3017520"/>
            <a:ext cx="640080" cy="64008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2400" b="1">
                <a:solidFill>
                  <a:srgbClr val="0F0F1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3840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F0EB"/>
                </a:solidFill>
                <a:latin typeface="Calibri"/>
              </a:defRPr>
            </a:pPr>
            <a:r>
              <a:t>Get a Polished 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42976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4B8A9"/>
                </a:solidFill>
                <a:latin typeface="Calibri"/>
              </a:defRPr>
            </a:pPr>
            <a:r>
              <a:t>Claude AI turns your answers into a</a:t>
            </a:r>
            <a:br/>
            <a:r>
              <a:t>natural, authentic pitch 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743200"/>
            <a:ext cx="3017520" cy="2926080"/>
          </a:xfrm>
          <a:prstGeom prst="roundRect">
            <a:avLst/>
          </a:prstGeom>
          <a:solidFill>
            <a:srgbClr val="161621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52559" y="3017520"/>
            <a:ext cx="640080" cy="64008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2400" b="1">
                <a:solidFill>
                  <a:srgbClr val="0F0F1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840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F0EB"/>
                </a:solidFill>
                <a:latin typeface="Calibri"/>
              </a:defRPr>
            </a:pPr>
            <a:r>
              <a:t>Record with Teleprompter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2976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4B8A9"/>
                </a:solidFill>
                <a:latin typeface="Calibri"/>
              </a:defRPr>
            </a:pPr>
            <a:r>
              <a:t>Practice on camera, take as many</a:t>
            </a:r>
            <a:br/>
            <a:r>
              <a:t>tries as you need, download your best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0EB"/>
                </a:solidFill>
                <a:latin typeface="Calibri"/>
              </a:defRPr>
            </a:pPr>
            <a:r>
              <a:t>Script Generator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2862072" cy="347472"/>
          </a:xfrm>
          <a:prstGeom prst="roundRect">
            <a:avLst/>
          </a:prstGeom>
          <a:solidFill>
            <a:srgbClr val="C4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100" b="1">
                <a:solidFill>
                  <a:srgbClr val="F5F0EB"/>
                </a:solidFill>
                <a:latin typeface="Calibri"/>
              </a:defRPr>
            </a:pPr>
            <a:r>
              <a:t>AI /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4B8A9"/>
                </a:solidFill>
                <a:latin typeface="Calibri"/>
              </a:defRPr>
            </a:pPr>
            <a:r>
              <a:t>We use the Claude API to generate scripts. We chose Claude specifically because it produces responses in warm, encouraging language — it sounds like a coach, not a robot.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A7168"/>
                </a:solidFill>
                <a:latin typeface="Calibri"/>
              </a:defRPr>
            </a:pPr>
            <a:r>
              <a:t>The AI answers questions like: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D4A574"/>
                </a:solidFill>
                <a:latin typeface="Calibri"/>
              </a:defRPr>
            </a:pPr>
            <a:r>
              <a:t>"What does your business do in simple terms?"</a:t>
            </a:r>
          </a:p>
          <a:p>
            <a:pPr>
              <a:spcAft>
                <a:spcPts val="800"/>
              </a:spcAft>
              <a:defRPr sz="1800">
                <a:solidFill>
                  <a:srgbClr val="D4A574"/>
                </a:solidFill>
                <a:latin typeface="Calibri"/>
              </a:defRPr>
            </a:pPr>
            <a:r>
              <a:t>"Who is your ideal customer?"</a:t>
            </a:r>
          </a:p>
          <a:p>
            <a:pPr>
              <a:spcAft>
                <a:spcPts val="800"/>
              </a:spcAft>
              <a:defRPr sz="1800">
                <a:solidFill>
                  <a:srgbClr val="D4A574"/>
                </a:solidFill>
                <a:latin typeface="Calibri"/>
              </a:defRPr>
            </a:pPr>
            <a:r>
              <a:t>"What makes you different from competitors?"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852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A7168"/>
                </a:solidFill>
                <a:latin typeface="Calibri"/>
              </a:defRPr>
            </a:pPr>
            <a:r>
              <a:t>▶  Show live: walk through questions → generate script in real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0EB"/>
                </a:solidFill>
                <a:latin typeface="Calibri"/>
              </a:defRPr>
            </a:pPr>
            <a:r>
              <a:t>Recording Studio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1792224" cy="347472"/>
          </a:xfrm>
          <a:prstGeom prst="roundRect">
            <a:avLst/>
          </a:prstGeom>
          <a:solidFill>
            <a:srgbClr val="C4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100" b="1">
                <a:solidFill>
                  <a:srgbClr val="F5F0EB"/>
                </a:solidFill>
                <a:latin typeface="Calibri"/>
              </a:defRPr>
            </a:pPr>
            <a:r>
              <a:t>UI/UX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103120"/>
            <a:ext cx="2743200" cy="347472"/>
          </a:xfrm>
          <a:prstGeom prst="roundRect">
            <a:avLst/>
          </a:prstGeom>
          <a:solidFill>
            <a:srgbClr val="C4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100" b="1">
                <a:solidFill>
                  <a:srgbClr val="F5F0EB"/>
                </a:solidFill>
                <a:latin typeface="Calibri"/>
              </a:defRPr>
            </a:pPr>
            <a:r>
              <a:t>Software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4B8A9"/>
                </a:solidFill>
                <a:latin typeface="Calibri"/>
              </a:defRPr>
            </a:pPr>
            <a:r>
              <a:t>Script loaded notification → Teleprompter launches</a:t>
            </a:r>
          </a:p>
          <a:p>
            <a:pPr>
              <a:spcAft>
                <a:spcPts val="800"/>
              </a:spcAft>
              <a:defRPr sz="1800">
                <a:solidFill>
                  <a:srgbClr val="C4B8A9"/>
                </a:solidFill>
                <a:latin typeface="Calibri"/>
              </a:defRPr>
            </a:pPr>
            <a:r>
              <a:t>3-second countdown before recording starts</a:t>
            </a:r>
          </a:p>
          <a:p>
            <a:pPr>
              <a:spcAft>
                <a:spcPts val="800"/>
              </a:spcAft>
              <a:defRPr sz="1800">
                <a:solidFill>
                  <a:srgbClr val="C4B8A9"/>
                </a:solidFill>
                <a:latin typeface="Calibri"/>
              </a:defRPr>
            </a:pPr>
            <a:r>
              <a:t>Camera preview in corner while reading script</a:t>
            </a:r>
          </a:p>
          <a:p>
            <a:pPr>
              <a:spcAft>
                <a:spcPts val="800"/>
              </a:spcAft>
              <a:defRPr sz="1800">
                <a:solidFill>
                  <a:srgbClr val="C4B8A9"/>
                </a:solidFill>
                <a:latin typeface="Calibri"/>
              </a:defRPr>
            </a:pPr>
            <a:r>
              <a:t>Stop recording → review the take</a:t>
            </a:r>
          </a:p>
          <a:p>
            <a:pPr>
              <a:spcAft>
                <a:spcPts val="800"/>
              </a:spcAft>
              <a:defRPr sz="1800">
                <a:solidFill>
                  <a:srgbClr val="C4B8A9"/>
                </a:solidFill>
                <a:latin typeface="Calibri"/>
              </a:defRPr>
            </a:pPr>
            <a:r>
              <a:t>Record another take → browse all takes</a:t>
            </a:r>
          </a:p>
          <a:p>
            <a:pPr>
              <a:spcAft>
                <a:spcPts val="800"/>
              </a:spcAft>
              <a:defRPr sz="1800">
                <a:solidFill>
                  <a:srgbClr val="C4B8A9"/>
                </a:solidFill>
                <a:latin typeface="Calibri"/>
              </a:defRPr>
            </a:pPr>
            <a:r>
              <a:t>Auto-upload to cloud with save status indicators</a:t>
            </a:r>
          </a:p>
          <a:p>
            <a:pPr>
              <a:spcAft>
                <a:spcPts val="800"/>
              </a:spcAft>
              <a:defRPr sz="1800">
                <a:solidFill>
                  <a:srgbClr val="C4B8A9"/>
                </a:solidFill>
                <a:latin typeface="Calibri"/>
              </a:defRPr>
            </a:pPr>
            <a:r>
              <a:t>Delete bad takes, keep the good 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852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A7168"/>
                </a:solidFill>
                <a:latin typeface="Calibri"/>
              </a:defRPr>
            </a:pPr>
            <a:r>
              <a:t>▶  Show live: load script → record → review takes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0EB"/>
                </a:solidFill>
                <a:latin typeface="Calibri"/>
              </a:defRPr>
            </a:pPr>
            <a:r>
              <a:t>Video Library &amp; Sharing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4B8A9"/>
                </a:solidFill>
                <a:latin typeface="Calibri"/>
              </a:defRPr>
            </a:pPr>
            <a:r>
              <a:t>Recordings grid with thumbnails and metadata</a:t>
            </a:r>
          </a:p>
          <a:p>
            <a:pPr>
              <a:spcAft>
                <a:spcPts val="800"/>
              </a:spcAft>
              <a:defRPr sz="2000">
                <a:solidFill>
                  <a:srgbClr val="C4B8A9"/>
                </a:solidFill>
                <a:latin typeface="Calibri"/>
              </a:defRPr>
            </a:pPr>
            <a:r>
              <a:t>Play back any recording</a:t>
            </a:r>
          </a:p>
          <a:p>
            <a:pPr>
              <a:spcAft>
                <a:spcPts val="800"/>
              </a:spcAft>
              <a:defRPr sz="2000">
                <a:solidFill>
                  <a:srgbClr val="C4B8A9"/>
                </a:solidFill>
                <a:latin typeface="Calibri"/>
              </a:defRPr>
            </a:pPr>
            <a:r>
              <a:t>Mark best take as "Final" ⭐</a:t>
            </a:r>
          </a:p>
          <a:p>
            <a:pPr>
              <a:spcAft>
                <a:spcPts val="800"/>
              </a:spcAft>
              <a:defRPr sz="2000">
                <a:solidFill>
                  <a:srgbClr val="C4B8A9"/>
                </a:solidFill>
                <a:latin typeface="Calibri"/>
              </a:defRPr>
            </a:pPr>
            <a:r>
              <a:t>Download video for local use</a:t>
            </a:r>
          </a:p>
          <a:p>
            <a:pPr>
              <a:spcAft>
                <a:spcPts val="800"/>
              </a:spcAft>
              <a:defRPr sz="2000">
                <a:solidFill>
                  <a:srgbClr val="C4B8A9"/>
                </a:solidFill>
                <a:latin typeface="Calibri"/>
              </a:defRPr>
            </a:pPr>
            <a:r>
              <a:t>Platform-specific sharing guides: Instagram, TikTok, YouTube, 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A7168"/>
                </a:solidFill>
                <a:latin typeface="Calibri"/>
              </a:defRPr>
            </a:pPr>
            <a:r>
              <a:t>▶  Show live: browse recordings → play → download → share guides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THE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0EB"/>
                </a:solidFill>
                <a:latin typeface="Calibri"/>
              </a:defRPr>
            </a:pPr>
            <a:r>
              <a:t>Before &amp;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468880"/>
            <a:ext cx="4572000" cy="731520"/>
          </a:xfrm>
          <a:prstGeom prst="roundRect">
            <a:avLst/>
          </a:prstGeom>
          <a:solidFill>
            <a:srgbClr val="1C1212"/>
          </a:solidFill>
          <a:ln w="12700">
            <a:solidFill>
              <a:srgbClr val="3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51460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B8A9"/>
                </a:solidFill>
                <a:latin typeface="Calibri"/>
              </a:defRPr>
            </a:pPr>
            <a:r>
              <a:t>Stares at blank page, doesn't</a:t>
            </a:r>
            <a:br/>
            <a:r>
              <a:t>know what to say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4572000" cy="731520"/>
          </a:xfrm>
          <a:prstGeom prst="roundRect">
            <a:avLst/>
          </a:prstGeom>
          <a:solidFill>
            <a:srgbClr val="121C15"/>
          </a:solidFill>
          <a:ln w="12700">
            <a:solidFill>
              <a:srgbClr val="1A3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51460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B8A9"/>
                </a:solidFill>
                <a:latin typeface="Calibri"/>
              </a:defRPr>
            </a:pPr>
            <a:r>
              <a:t>Answers guided questions, gets</a:t>
            </a:r>
            <a:br/>
            <a:r>
              <a:t>a polished script in seconds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291840"/>
            <a:ext cx="4572000" cy="731520"/>
          </a:xfrm>
          <a:prstGeom prst="roundRect">
            <a:avLst/>
          </a:prstGeom>
          <a:solidFill>
            <a:srgbClr val="1C1212"/>
          </a:solidFill>
          <a:ln w="12700">
            <a:solidFill>
              <a:srgbClr val="3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3375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B8A9"/>
                </a:solidFill>
                <a:latin typeface="Calibri"/>
              </a:defRPr>
            </a:pPr>
            <a:r>
              <a:t>Records one take, hates it,</a:t>
            </a:r>
            <a:br/>
            <a:r>
              <a:t>gives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91840"/>
            <a:ext cx="4572000" cy="731520"/>
          </a:xfrm>
          <a:prstGeom prst="roundRect">
            <a:avLst/>
          </a:prstGeom>
          <a:solidFill>
            <a:srgbClr val="121C15"/>
          </a:solidFill>
          <a:ln w="12700">
            <a:solidFill>
              <a:srgbClr val="1A3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3375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B8A9"/>
                </a:solidFill>
                <a:latin typeface="Calibri"/>
              </a:defRPr>
            </a:pPr>
            <a:r>
              <a:t>Records multiple takes, picks</a:t>
            </a:r>
            <a:br/>
            <a:r>
              <a:t>the best one confidently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114800"/>
            <a:ext cx="4572000" cy="731520"/>
          </a:xfrm>
          <a:prstGeom prst="roundRect">
            <a:avLst/>
          </a:prstGeom>
          <a:solidFill>
            <a:srgbClr val="1C1212"/>
          </a:solidFill>
          <a:ln w="12700">
            <a:solidFill>
              <a:srgbClr val="3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416052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B8A9"/>
                </a:solidFill>
                <a:latin typeface="Calibri"/>
              </a:defRPr>
            </a:pPr>
            <a:r>
              <a:t>No teleprompter — loses</a:t>
            </a:r>
            <a:br/>
            <a:r>
              <a:t>train of thought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4572000" cy="731520"/>
          </a:xfrm>
          <a:prstGeom prst="roundRect">
            <a:avLst/>
          </a:prstGeom>
          <a:solidFill>
            <a:srgbClr val="121C15"/>
          </a:solidFill>
          <a:ln w="12700">
            <a:solidFill>
              <a:srgbClr val="1A3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16052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B8A9"/>
                </a:solidFill>
                <a:latin typeface="Calibri"/>
              </a:defRPr>
            </a:pPr>
            <a:r>
              <a:t>Script scrolls on screen</a:t>
            </a:r>
            <a:br/>
            <a:r>
              <a:t>while recording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937760"/>
            <a:ext cx="4572000" cy="731520"/>
          </a:xfrm>
          <a:prstGeom prst="roundRect">
            <a:avLst/>
          </a:prstGeom>
          <a:solidFill>
            <a:srgbClr val="1C1212"/>
          </a:solidFill>
          <a:ln w="12700">
            <a:solidFill>
              <a:srgbClr val="3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9834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B8A9"/>
                </a:solidFill>
                <a:latin typeface="Calibri"/>
              </a:defRPr>
            </a:pPr>
            <a:r>
              <a:t>Pays $500+ for professional</a:t>
            </a:r>
            <a:br/>
            <a:r>
              <a:t>video help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937760"/>
            <a:ext cx="4572000" cy="731520"/>
          </a:xfrm>
          <a:prstGeom prst="roundRect">
            <a:avLst/>
          </a:prstGeom>
          <a:solidFill>
            <a:srgbClr val="121C15"/>
          </a:solidFill>
          <a:ln w="12700">
            <a:solidFill>
              <a:srgbClr val="1A3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9834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B8A9"/>
                </a:solidFill>
                <a:latin typeface="Calibri"/>
              </a:defRPr>
            </a:pPr>
            <a:r>
              <a:t>Free tool accessible from</a:t>
            </a:r>
            <a:br/>
            <a:r>
              <a:t>any phone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760720"/>
            <a:ext cx="4572000" cy="731520"/>
          </a:xfrm>
          <a:prstGeom prst="roundRect">
            <a:avLst/>
          </a:prstGeom>
          <a:solidFill>
            <a:srgbClr val="1C1212"/>
          </a:solidFill>
          <a:ln w="12700">
            <a:solidFill>
              <a:srgbClr val="3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58064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B8A9"/>
                </a:solidFill>
                <a:latin typeface="Calibri"/>
              </a:defRPr>
            </a:pPr>
            <a:r>
              <a:t>Videos never get posted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760720"/>
            <a:ext cx="4572000" cy="731520"/>
          </a:xfrm>
          <a:prstGeom prst="roundRect">
            <a:avLst/>
          </a:prstGeom>
          <a:solidFill>
            <a:srgbClr val="121C15"/>
          </a:solidFill>
          <a:ln w="12700">
            <a:solidFill>
              <a:srgbClr val="1A3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8064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B8A9"/>
                </a:solidFill>
                <a:latin typeface="Calibri"/>
              </a:defRPr>
            </a:pPr>
            <a:r>
              <a:t>Videos get downloaded and</a:t>
            </a:r>
            <a:br/>
            <a:r>
              <a:t>shared to social platforms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0EB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3218688" cy="347472"/>
          </a:xfrm>
          <a:prstGeom prst="roundRect">
            <a:avLst/>
          </a:prstGeom>
          <a:solidFill>
            <a:srgbClr val="C4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100" b="1">
                <a:solidFill>
                  <a:srgbClr val="F5F0EB"/>
                </a:solidFill>
                <a:latin typeface="Calibri"/>
              </a:defRPr>
            </a:pPr>
            <a:r>
              <a:t>Cloud Computing &amp; DevOps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73168" y="2103120"/>
            <a:ext cx="2624328" cy="347472"/>
          </a:xfrm>
          <a:prstGeom prst="roundRect">
            <a:avLst/>
          </a:prstGeom>
          <a:solidFill>
            <a:srgbClr val="C4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100" b="1">
                <a:solidFill>
                  <a:srgbClr val="F5F0EB"/>
                </a:solidFill>
                <a:latin typeface="Calibri"/>
              </a:defRPr>
            </a:pPr>
            <a:r>
              <a:t>Database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926080"/>
            <a:ext cx="9144000" cy="640080"/>
          </a:xfrm>
          <a:prstGeom prst="roundRect">
            <a:avLst/>
          </a:prstGeom>
          <a:solidFill>
            <a:srgbClr val="161621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74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017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4B8A9"/>
                </a:solidFill>
                <a:latin typeface="Calibri"/>
              </a:defRPr>
            </a:pPr>
            <a:r>
              <a:t>React + Vite — fast builds, modern tooling, component-based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657600"/>
            <a:ext cx="9144000" cy="640080"/>
          </a:xfrm>
          <a:prstGeom prst="roundRect">
            <a:avLst/>
          </a:prstGeom>
          <a:solidFill>
            <a:srgbClr val="161621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74"/>
                </a:solidFill>
                <a:latin typeface="Calibri"/>
              </a:defRPr>
            </a:pPr>
            <a:r>
              <a:t>Backend /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7490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4B8A9"/>
                </a:solidFill>
                <a:latin typeface="Calibri"/>
              </a:defRPr>
            </a:pPr>
            <a:r>
              <a:t>Supabase — Postgres + Auth + Storage in one platform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389120"/>
            <a:ext cx="9144000" cy="640080"/>
          </a:xfrm>
          <a:prstGeom prst="roundRect">
            <a:avLst/>
          </a:prstGeom>
          <a:solidFill>
            <a:srgbClr val="161621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48055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74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48055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4B8A9"/>
                </a:solidFill>
                <a:latin typeface="Calibri"/>
              </a:defRPr>
            </a:pPr>
            <a:r>
              <a:t>Anthropic Claude API — script generation with natural, coach-like tone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120640"/>
            <a:ext cx="9144000" cy="640080"/>
          </a:xfrm>
          <a:prstGeom prst="roundRect">
            <a:avLst/>
          </a:prstGeom>
          <a:solidFill>
            <a:srgbClr val="161621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521207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74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21207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4B8A9"/>
                </a:solidFill>
                <a:latin typeface="Calibri"/>
              </a:defRPr>
            </a:pPr>
            <a:r>
              <a:t>Vercel — automatic builds on every git push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852159"/>
            <a:ext cx="9144000" cy="640080"/>
          </a:xfrm>
          <a:prstGeom prst="roundRect">
            <a:avLst/>
          </a:prstGeom>
          <a:solidFill>
            <a:srgbClr val="161621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594359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74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94359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4B8A9"/>
                </a:solidFill>
                <a:latin typeface="Calibri"/>
              </a:defRPr>
            </a:pPr>
            <a:r>
              <a:t>Row Level Security (RLS) policies — users can only access their own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KEY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0EB"/>
                </a:solidFill>
                <a:latin typeface="Calibri"/>
              </a:defRPr>
            </a:pPr>
            <a:r>
              <a:t>Why Supabase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4B8A9"/>
                </a:solidFill>
                <a:latin typeface="Calibri"/>
              </a:defRPr>
            </a:pPr>
            <a:r>
              <a:t>We needed authentication, a database, and video storage — without a budget for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A7168"/>
                </a:solidFill>
                <a:latin typeface="Calibri"/>
              </a:defRPr>
            </a:pPr>
            <a:r>
              <a:t>Options considered: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Firebase — Popular, but document model felt awkward for relational data</a:t>
            </a:r>
          </a:p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Custom backend (Express + Postgres + S3) — Max control, too much overhead for capstone timeline</a:t>
            </a:r>
          </a:p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Supabase ✔ — Full Postgres, built-in auth, file storage, generous free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Why it won: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7548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Free to run on the web — critical for a student project that needs to stay live</a:t>
            </a:r>
          </a:p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Real Postgres with SQL — easy tables, relationships, and RLS policies</a:t>
            </a:r>
          </a:p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RLS enforces security at the database level — even buggy frontend code can't leak data</a:t>
            </a:r>
          </a:p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Built-in storage buckets for video files with the same security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KEY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0EB"/>
                </a:solidFill>
                <a:latin typeface="Calibri"/>
              </a:defRPr>
            </a:pPr>
            <a:r>
              <a:t>Why Claude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4B8A9"/>
                </a:solidFill>
                <a:latin typeface="Calibri"/>
              </a:defRPr>
            </a:pPr>
            <a:r>
              <a:t>The script generator is the core feature. Output quality determines whether users trust the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A7168"/>
                </a:solidFill>
                <a:latin typeface="Calibri"/>
              </a:defRPr>
            </a:pPr>
            <a:r>
              <a:t>Options considered: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OpenAI GPT-4 — Industry standard, massive community</a:t>
            </a:r>
          </a:p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Open-source (Llama, Mistral) — Free but requires hosting infrastructure we didn't have</a:t>
            </a:r>
          </a:p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Anthropic Claude ✔ — Strong language quality, conversational and encouraging 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Why it won: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7548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Claude reads like a supportive coach, not a corporate chatbot — tone matters for a confidence app</a:t>
            </a:r>
          </a:p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We built the entire app using Claude Code, so we had firsthand experience with its quality</a:t>
            </a:r>
          </a:p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Consistently better output for our use case: scripts that sound like a real person talking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KEY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0EB"/>
                </a:solidFill>
                <a:latin typeface="Calibri"/>
              </a:defRPr>
            </a:pPr>
            <a:r>
              <a:t>Why Mobile-First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4B8A9"/>
                </a:solidFill>
                <a:latin typeface="Calibri"/>
              </a:defRPr>
            </a:pPr>
            <a:r>
              <a:t>Our target users are most likely to record videos on their phones, not at a desk.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A7168"/>
                </a:solidFill>
                <a:latin typeface="Calibri"/>
              </a:defRPr>
            </a:pPr>
            <a:r>
              <a:t>Options considered: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Desktop-first, then responsive — Risks a clunky mobile experience bolted on</a:t>
            </a:r>
          </a:p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Native mobile app (React Native) — Best mobile UX, but doubles dev scope</a:t>
            </a:r>
          </a:p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Mobile-first web app ✔ — Design for phone first, scale up for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Why it won: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7548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No app store required — users just open a URL</a:t>
            </a:r>
          </a:p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Recording experience designed for phone form factor where most recording happens</a:t>
            </a:r>
          </a:p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Desktop support comes naturally through responsive CSS</a:t>
            </a:r>
          </a:p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React + Vite + Vercel makes this fast to build and deploy as one codebase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KEY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5F0EB"/>
                </a:solidFill>
                <a:latin typeface="Calibri"/>
              </a:defRPr>
            </a:pPr>
            <a:r>
              <a:t>Guided Questions Over Open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4B8A9"/>
                </a:solidFill>
                <a:latin typeface="Calibri"/>
              </a:defRPr>
            </a:pPr>
            <a:r>
              <a:t>Users who freeze on camera also freeze on open-ended text boxes.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A7168"/>
                </a:solidFill>
                <a:latin typeface="Calibri"/>
              </a:defRPr>
            </a:pPr>
            <a:r>
              <a:t>Options considered: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Single text box — "Describe your business." Simple, but users freeze on open prompts too.</a:t>
            </a:r>
          </a:p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Template selection — Fast, but produces generic scripts that don't sound personal</a:t>
            </a:r>
          </a:p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Guided questionnaire ✔ — 11 specific questions, then feed all answers to the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Why it won: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7548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Mirrors what a real coach does — ask about your business, audience, and story one at a time</a:t>
            </a:r>
          </a:p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Users who can't write a script CAN answer "What does your business do?"</a:t>
            </a:r>
          </a:p>
          <a:p>
            <a:pPr>
              <a:spcAft>
                <a:spcPts val="800"/>
              </a:spcAft>
              <a:defRPr sz="1600">
                <a:solidFill>
                  <a:srgbClr val="C4B8A9"/>
                </a:solidFill>
                <a:latin typeface="Calibri"/>
              </a:defRPr>
            </a:pPr>
            <a:r>
              <a:t>AI gets rich, personal context from 11 answers → scripts that sound like the user, not like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Calibri"/>
              </a:defRPr>
            </a:pPr>
            <a:r>
              <a:t>REFLECTION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28016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0EB"/>
                </a:solidFill>
                <a:latin typeface="Calibri"/>
              </a:defRPr>
            </a:pPr>
            <a:r>
              <a:t>What I Know Now That</a:t>
            </a:r>
            <a:br/>
            <a:r>
              <a:t>I Didn't Before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926080"/>
            <a:ext cx="9144000" cy="2743200"/>
          </a:xfrm>
          <a:prstGeom prst="roundRect">
            <a:avLst/>
          </a:prstGeom>
          <a:solidFill>
            <a:srgbClr val="161621"/>
          </a:solidFill>
          <a:ln w="25400">
            <a:solidFill>
              <a:srgbClr val="C49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4B8A9"/>
                </a:solidFill>
                <a:latin typeface="Calibri"/>
              </a:defRPr>
            </a:pPr>
            <a:r>
              <a:t>"We assumed the AI script generation would be the hard part. It wasn't.</a:t>
            </a:r>
            <a:br/>
            <a:br/>
            <a:r>
              <a:t>The hard part was the recording experience — getting browser camera and microphone APIs to work reliably across devices, handling media streams that silently fail, dealing with blob storage quirks, and making the teleprompter feel natural.</a:t>
            </a:r>
            <a:br/>
            <a:br/>
            <a:r>
              <a:t>The AI took a week. The recorder took most of the semester."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914400"/>
            <a:ext cx="1828800" cy="36576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0EB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4B8A9"/>
                </a:solidFill>
                <a:latin typeface="Calibri"/>
              </a:defRPr>
            </a:pPr>
            <a:r>
              <a:t>1.  The gap between knowing your business and communicating it on video is a tooling problem, not a talent problem.</a:t>
            </a:r>
          </a:p>
          <a:p>
            <a:pPr>
              <a:spcAft>
                <a:spcPts val="800"/>
              </a:spcAft>
              <a:defRPr sz="1800">
                <a:solidFill>
                  <a:srgbClr val="C4B8A9"/>
                </a:solidFill>
                <a:latin typeface="Calibri"/>
              </a:defRPr>
            </a:pPr>
            <a:r>
              <a:t>2.  Guided AI beats open-ended AI. Asking the right questions produces better scripts than a blank text box.</a:t>
            </a:r>
          </a:p>
          <a:p>
            <a:pPr>
              <a:spcAft>
                <a:spcPts val="800"/>
              </a:spcAft>
              <a:defRPr sz="1800">
                <a:solidFill>
                  <a:srgbClr val="C4B8A9"/>
                </a:solidFill>
                <a:latin typeface="Calibri"/>
              </a:defRPr>
            </a:pPr>
            <a:r>
              <a:t>3.  Mobile-first isn't just a design preference — it's meeting users where they already 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74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206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7A7168"/>
                </a:solidFill>
                <a:latin typeface="Calibri"/>
              </a:defRPr>
            </a:pPr>
            <a:r>
              <a:t>User testing with real small business owners to validate the workflow</a:t>
            </a:r>
          </a:p>
          <a:p>
            <a:pPr>
              <a:spcAft>
                <a:spcPts val="800"/>
              </a:spcAft>
              <a:defRPr sz="1600">
                <a:solidFill>
                  <a:srgbClr val="7A7168"/>
                </a:solidFill>
                <a:latin typeface="Calibri"/>
              </a:defRPr>
            </a:pPr>
            <a:r>
              <a:t>AI-powered feedback on recorded videos (pacing, filler words, eye contact)</a:t>
            </a:r>
          </a:p>
          <a:p>
            <a:pPr>
              <a:spcAft>
                <a:spcPts val="800"/>
              </a:spcAft>
              <a:defRPr sz="1600">
                <a:solidFill>
                  <a:srgbClr val="7A7168"/>
                </a:solidFill>
                <a:latin typeface="Calibri"/>
              </a:defRPr>
            </a:pPr>
            <a:r>
              <a:t>Expanded script templates for different use cases (interviews, investor pitches, product demos)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5669280"/>
            <a:ext cx="4572000" cy="64008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6200"/>
          <a:lstStyle/>
          <a:p>
            <a:pPr algn="ctr">
              <a:defRPr sz="1800" b="1">
                <a:solidFill>
                  <a:srgbClr val="0F0F13"/>
                </a:solidFill>
                <a:latin typeface="Calibri"/>
              </a:defRPr>
            </a:pPr>
            <a:r>
              <a:t>Try it now:  your-deployed-url.vercel.app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